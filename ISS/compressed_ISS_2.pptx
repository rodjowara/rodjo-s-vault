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8"/>
  </p:notesMasterIdLst>
  <p:sldIdLst>
    <p:sldId id="281" r:id="rId2"/>
    <p:sldId id="283" r:id="rId3"/>
    <p:sldId id="301" r:id="rId4"/>
    <p:sldId id="284" r:id="rId5"/>
    <p:sldId id="299" r:id="rId6"/>
    <p:sldId id="292" r:id="rId7"/>
    <p:sldId id="298" r:id="rId8"/>
    <p:sldId id="285" r:id="rId9"/>
    <p:sldId id="295" r:id="rId10"/>
    <p:sldId id="293" r:id="rId11"/>
    <p:sldId id="297" r:id="rId12"/>
    <p:sldId id="294" r:id="rId13"/>
    <p:sldId id="296" r:id="rId14"/>
    <p:sldId id="282" r:id="rId15"/>
    <p:sldId id="286" r:id="rId16"/>
    <p:sldId id="289" r:id="rId17"/>
    <p:sldId id="302" r:id="rId18"/>
    <p:sldId id="303" r:id="rId19"/>
    <p:sldId id="308" r:id="rId20"/>
    <p:sldId id="309" r:id="rId21"/>
    <p:sldId id="287" r:id="rId22"/>
    <p:sldId id="291" r:id="rId23"/>
    <p:sldId id="288" r:id="rId24"/>
    <p:sldId id="290" r:id="rId25"/>
    <p:sldId id="304" r:id="rId26"/>
    <p:sldId id="305" r:id="rId27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BA6BE-E22D-48EE-ABF8-7CCC0FB17978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28A9-5302-4902-B40E-894504E50A5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4661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F28A9-5302-4902-B40E-894504E50A5A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669958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89CB8-3BD3-9A02-28AD-92D99683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0BC5A0-8191-5D12-08D6-C4138E557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004E8-38CC-A77C-D188-8F8D113112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69217-EBE8-E9F0-93F2-9A19850D1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F28A9-5302-4902-B40E-894504E50A5A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1352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F28A9-5302-4902-B40E-894504E50A5A}" type="slidenum">
              <a:rPr lang="hr-HR" smtClean="0"/>
              <a:t>21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26908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E86A49F-C824-40A7-BA45-B7680B198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441DBBEB-C0C9-4AB3-A4D4-D8243B79B9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C867E26-2F14-4C7D-9E28-807652D2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3637C351-AD43-40E5-AE45-7FD37FB7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A7D23CE-990D-492D-85EF-59F267726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61011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B21EE22-4E5C-4482-9DE5-0E8DA8F7A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B73D58C6-49B2-42A4-877C-775F349C1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75E5BF19-F3B4-49A5-9A58-F29EB8DC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6FC501D-E2E8-4853-9E9B-D7356EE45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9458C2A-B2FA-47CE-87A3-24DB05F60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324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FE953B9-B48A-40EA-930B-11F1FDE74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E1319F0B-A507-4328-98E4-3D9C93817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343D046-350A-4830-A580-2A52E559A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F835B731-E11B-41EE-88C2-93D233A5B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B6DFB0A-EAC7-42EE-BCFA-F84962EC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04205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2B0CEE5-CDB6-4828-B1CF-1B42EFC5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A6A521C-9A1E-4480-90DC-9AB1A9247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41DC536B-BB15-43F5-87C4-7291FD905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C5CA4A78-5E15-458E-8739-2B3D6DC3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4D30D692-24DB-4F36-806B-6B4DDED7A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6778ADDA-7ED0-43F0-BE78-A34F09A9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93766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F19B603-80C2-4195-9B1E-5F7C86B19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AAF89D0B-30FF-4FA2-8100-98EE27B2B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62087E8D-5B14-47BC-9743-8DBBC1FCD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5FEDF439-C44A-486A-A488-26A950ABF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C6A8AE48-5549-4A32-AD1D-E6F276854A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985A362C-E545-4246-A64F-C5A746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73C69E89-83C2-4D2F-828D-1DC25EBE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88E950F3-CE19-4359-8D34-FAF7AEEC2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24239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AEC3E81-DC46-443E-8A69-A5AE0AD83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8B033886-C0DF-4655-BBFF-EB80D5CF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73A546DC-08E2-45FF-9F79-4AB30084F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DE158181-4D9D-4D04-B527-F2049F0D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88968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1866E0AE-9C09-4B85-80AE-0892CAAA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C72F5DD3-95FD-4CF1-BAD0-F053E03D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E62BA77-B162-4F90-A420-3C6CB4F6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5414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2124873-9554-4894-ABB9-C9F03CBE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E321C5D6-6DA3-41B7-920E-567FDC915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C75F4F2B-8A65-4332-B331-9D249C03F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A4EEA60A-3BD0-444D-92EB-57B1EB8C1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C253B66E-DAC7-4134-91C1-5896BBB6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3EFE0BCF-76C6-4238-B487-F77F3F06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06624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10446B4-F957-4F7E-899F-DC4EBC76B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D501C4EF-A9B4-4A3E-A8E8-62CD1AAC6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1C80269F-60DB-4ECA-A447-43A5BD35D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9C2D42F8-22A3-4FA5-B751-449A79C8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359BFB9E-772B-4A47-B33C-F80D43F02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C022B5F5-A1D2-402D-AD07-66F19859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9156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EB39484-80F5-41EB-A578-22C50F42E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74A4EDA6-9523-4FB9-BD5A-2C7BBB5A3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EF77986-364C-4FF5-8C8B-57D2B79FD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E053B55E-2324-4FCA-985A-9058596D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A5E218F-C8FB-4573-A858-1BBABD89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4680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F5014723-6FFE-4060-A709-DC8145128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312F7BE8-FB2F-4683-8505-76EBAFED6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356B119-FE06-4093-AC8C-D0D9445CF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A82548D-16E1-43DC-9BE4-2559A67A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11D8017-9F43-4CA1-B825-DC8E5F7C4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1272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019A6EDC-1AF4-473C-9F47-1D5B457C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487C550-C69C-467D-8686-81552652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F65A20B-02EF-406D-A01F-C2ADDA4E8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49275-421F-4964-BE1A-354FC69238E9}" type="datetimeFigureOut">
              <a:rPr lang="hr-HR" smtClean="0"/>
              <a:t>25.01.2025.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FD19F2E5-8794-4BF7-A94E-A9FBEAF04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406703D4-5723-4622-9A29-E6F4C9CF3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7A2F5-18C3-4A6B-8E96-CC3CB4789880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19970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samsung.com/us/web/app/car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bestbuy.com/site/lg-ultragear-45-oled-curved-wqhd-240hz-0-03ms-freesync-and-nvidia-g-sync-compatible-gaming-monitor-with-hdr10-black/6530356.p?skuId=653035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dell.com/en-us/shop/dell-ultrasharp-32-4k-usb-c-hub-monitor-u3223qe/apd/210-bdph/monitors-monitor-accessories#tabs_sectio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ptopsdirect.co.uk/aoc-cu34g2x-34-uwqhd-1ms-144hz-freesync-curved-gaming-monitor-cu34g2x-bk/version.asp?refsource=hatch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www.amazon.com/dp/B0BVXF72HV/ref=dp_cr_wdg_tit_nw_mr?th=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ww.bestbuy.com/cart?cmp=RMX&amp;refdomain=pricespider.com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www.logitechg.com/en-us/products/flight/flight-simulator-yoke-system.945-000023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s://flyhoneycomb.com/products/alpha-flight-controls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virpil-controls.us.com/vpc-ace-collection-pedals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rtlebeach.com/products/velocity-one-rudd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s://www.habdirect.com/product/zephyr-bioharness-btle-echo-module-gen-3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flyhoneycomb.com/products/bravo-throttle-quadrant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C1F21-94D4-77EB-4B49-4E4B5E63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A2B1812-BE3B-6265-31F1-EAFBD1BF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23147"/>
            <a:ext cx="10515600" cy="1133475"/>
          </a:xfrm>
        </p:spPr>
        <p:txBody>
          <a:bodyPr>
            <a:noAutofit/>
          </a:bodyPr>
          <a:lstStyle/>
          <a:p>
            <a:pPr algn="ctr" rtl="0" eaLnBrk="1" latinLnBrk="0" hangingPunct="1">
              <a:lnSpc>
                <a:spcPct val="90000"/>
              </a:lnSpc>
              <a:spcBef>
                <a:spcPts val="1000"/>
              </a:spcBef>
              <a:buClrTx/>
              <a:buSzPts val="2800"/>
            </a:pPr>
            <a:r>
              <a:rPr lang="pl-PL" sz="4000" b="1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Veliki / zakrivljeni ekrani za moderni simulator leta</a:t>
            </a:r>
            <a:endParaRPr lang="hr-HR" sz="4000" b="1" dirty="0">
              <a:effectLst/>
            </a:endParaRP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78CC544D-3402-AC95-ADA0-226A0F83A4A3}"/>
              </a:ext>
            </a:extLst>
          </p:cNvPr>
          <p:cNvSpPr txBox="1"/>
          <p:nvPr/>
        </p:nvSpPr>
        <p:spPr>
          <a:xfrm>
            <a:off x="4604084" y="3856622"/>
            <a:ext cx="2983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/>
              <a:t>Lovro Đuranec</a:t>
            </a:r>
          </a:p>
        </p:txBody>
      </p:sp>
    </p:spTree>
    <p:extLst>
      <p:ext uri="{BB962C8B-B14F-4D97-AF65-F5344CB8AC3E}">
        <p14:creationId xmlns:p14="http://schemas.microsoft.com/office/powerpoint/2010/main" val="3285422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0991D8-888D-8BB3-1D7E-3A766012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C011A12D-4420-93F0-5712-EDA62151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Odyssey Neo G9 49</a:t>
            </a:r>
          </a:p>
        </p:txBody>
      </p:sp>
      <p:sp>
        <p:nvSpPr>
          <p:cNvPr id="4105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89FFE459-5889-6E8F-0D9A-D880E9B46241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Cijena</a:t>
            </a:r>
            <a:r>
              <a:rPr lang="en-US" sz="2000"/>
              <a:t>: $1799.99 (</a:t>
            </a:r>
            <a:r>
              <a:rPr lang="en-US" sz="20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samsung</a:t>
            </a:r>
            <a:r>
              <a:rPr lang="en-US" sz="200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Screen Size:</a:t>
            </a:r>
            <a:r>
              <a:rPr lang="en-US" sz="2000"/>
              <a:t> 49 inches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Panel Type:</a:t>
            </a:r>
            <a:r>
              <a:rPr lang="en-US" sz="2000"/>
              <a:t> VA with Quantum Mini-LED backlighting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Resolution:</a:t>
            </a:r>
            <a:r>
              <a:rPr lang="en-US" sz="2000"/>
              <a:t> Dual QHD (5120 x 1440)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Aspect Ratio:</a:t>
            </a:r>
            <a:r>
              <a:rPr lang="en-US" sz="2000"/>
              <a:t> 32:9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Curve:</a:t>
            </a:r>
            <a:r>
              <a:rPr lang="en-US" sz="2000"/>
              <a:t> 1000R curvature for enhanced immersion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Refresh Rate:</a:t>
            </a:r>
            <a:r>
              <a:rPr lang="en-US" sz="2000"/>
              <a:t> 240Hz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Response Time:</a:t>
            </a:r>
            <a:r>
              <a:rPr lang="en-US" sz="2000"/>
              <a:t> 1ms (GtG)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4098" name="Picture 2" descr="Samsung ra mắt Odyssey OLED G9: Màn hình OLED dành cho game thủ với ...">
            <a:extLst>
              <a:ext uri="{FF2B5EF4-FFF2-40B4-BE49-F238E27FC236}">
                <a16:creationId xmlns:a16="http://schemas.microsoft.com/office/drawing/2014/main" id="{DE0DD65A-E9DE-F71B-13C0-DD4374DAB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381887"/>
            <a:ext cx="5458968" cy="409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801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0B963-3DAD-9E47-50C0-1876E2243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A748EAB1-E57E-A802-AD6F-C610239CF7EB}"/>
              </a:ext>
            </a:extLst>
          </p:cNvPr>
          <p:cNvSpPr txBox="1"/>
          <p:nvPr/>
        </p:nvSpPr>
        <p:spPr>
          <a:xfrm>
            <a:off x="1481327" y="374904"/>
            <a:ext cx="4442818" cy="224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Brightness:</a:t>
            </a:r>
            <a:endParaRPr lang="hr-H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Typical: 420 cd/m²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Peak (HDR): 2,000 nits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Contrast Ratio:</a:t>
            </a:r>
            <a:r>
              <a:rPr lang="hr-HR" dirty="0"/>
              <a:t> 1,000,000:1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Color Support:</a:t>
            </a:r>
            <a:r>
              <a:rPr lang="hr-HR" dirty="0"/>
              <a:t> 1.07 billion colors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Viewing Angles:</a:t>
            </a:r>
            <a:r>
              <a:rPr lang="hr-HR" dirty="0"/>
              <a:t> 178° horizontal and vertical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05336-7CEE-6A3B-A966-B939DB0B6B10}"/>
              </a:ext>
            </a:extLst>
          </p:cNvPr>
          <p:cNvSpPr txBox="1"/>
          <p:nvPr/>
        </p:nvSpPr>
        <p:spPr>
          <a:xfrm>
            <a:off x="6267855" y="622453"/>
            <a:ext cx="44428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dirty="0"/>
              <a:t>Connectivity: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HDMI:</a:t>
            </a:r>
            <a:r>
              <a:rPr lang="hr-HR" dirty="0"/>
              <a:t> 2 x HDMI 2.1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DisplayPort:</a:t>
            </a:r>
            <a:r>
              <a:rPr lang="hr-HR" dirty="0"/>
              <a:t> 1 x DisplayPort 1.4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USB Ports:</a:t>
            </a:r>
            <a:endParaRPr lang="hr-H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2 x USB 3.0 downstream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1 x USB 3.0 upstream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FFBBE0-6AF9-83A4-3869-3B950C5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30" y="3429000"/>
            <a:ext cx="8697539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92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6DAC2-E521-0636-6DF8-35C11702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CC6A88F-5DB1-6BA7-5886-E04ABEFD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LG UltraGear 45GR95QE</a:t>
            </a: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7E95F0AC-4269-859D-2969-B3EC3E3D2B31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Cijena</a:t>
            </a:r>
            <a:r>
              <a:rPr lang="en-US" sz="1700"/>
              <a:t>: </a:t>
            </a:r>
            <a:r>
              <a:rPr lang="en-US" sz="1700" b="0" i="0">
                <a:effectLst/>
              </a:rPr>
              <a:t>$1,699.99 </a:t>
            </a:r>
            <a:r>
              <a:rPr lang="en-US" sz="1700"/>
              <a:t>(</a:t>
            </a:r>
            <a:r>
              <a:rPr lang="en-US" sz="17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bestbuy</a:t>
            </a:r>
            <a:r>
              <a:rPr lang="en-US" sz="170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Screen Size:</a:t>
            </a:r>
            <a:r>
              <a:rPr lang="en-US" sz="1700"/>
              <a:t> 45 inches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Panel Type:</a:t>
            </a:r>
            <a:r>
              <a:rPr lang="en-US" sz="1700"/>
              <a:t> OLED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Resolution:</a:t>
            </a:r>
            <a:r>
              <a:rPr lang="en-US" sz="1700"/>
              <a:t> WQHD (3440 x 1440)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Aspect Ratio:</a:t>
            </a:r>
            <a:r>
              <a:rPr lang="en-US" sz="1700"/>
              <a:t> 21:9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Curve:</a:t>
            </a:r>
            <a:r>
              <a:rPr lang="en-US" sz="1700"/>
              <a:t> 800R curvature for enhanced immersion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Refresh Rate:</a:t>
            </a:r>
            <a:r>
              <a:rPr lang="en-US" sz="1700"/>
              <a:t> 240Hz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Response Time:</a:t>
            </a:r>
            <a:r>
              <a:rPr lang="en-US" sz="1700"/>
              <a:t> 0.03ms (GtG)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Contrast Ratio:</a:t>
            </a:r>
            <a:r>
              <a:rPr lang="en-US" sz="1700"/>
              <a:t> 1,500,000:1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Brightness:</a:t>
            </a:r>
            <a:r>
              <a:rPr lang="en-US" sz="1700"/>
              <a:t> 200 cd/m²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Viewing Angles:</a:t>
            </a:r>
            <a:r>
              <a:rPr lang="en-US" sz="1700"/>
              <a:t> 178° horizontal and vertical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3074" name="Picture 2" descr="Customer Reviews: LG UltraGear 45&quot; OLED Curved WQHD 240Hz 0.03ms ...">
            <a:extLst>
              <a:ext uri="{FF2B5EF4-FFF2-40B4-BE49-F238E27FC236}">
                <a16:creationId xmlns:a16="http://schemas.microsoft.com/office/drawing/2014/main" id="{C0F1817E-E18C-0417-16BF-D64CD8D76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170352"/>
            <a:ext cx="5458968" cy="4517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0554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0D5971-FFA2-8A2C-BEED-F349BC8D53D5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Connectivity:</a:t>
            </a:r>
            <a:endParaRPr lang="en-US" sz="20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HDMI:</a:t>
            </a:r>
            <a:r>
              <a:rPr lang="en-US" sz="2000"/>
              <a:t> 2 x HDMI 2.1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DisplayPort:</a:t>
            </a:r>
            <a:r>
              <a:rPr lang="en-US" sz="2000"/>
              <a:t> 1 x DisplayPort 1.4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USB Ports:</a:t>
            </a:r>
            <a:r>
              <a:rPr lang="en-US" sz="2000"/>
              <a:t> 2 x USB-A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DFBEB46-0C07-9B3A-00F3-84460B269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451767"/>
            <a:ext cx="10917936" cy="163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9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466DA-C5DE-39EB-B1B5-8973CC27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56E3B240-7353-D451-9000-35DBB8EB6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Dell UltraSharp 32 U3223QE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DFB9DCFF-2061-7A79-DFE3-DE700825FE43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/>
              <a:t>Cijena</a:t>
            </a:r>
            <a:r>
              <a:rPr lang="en-US" sz="1700" dirty="0"/>
              <a:t>: $919.99 (</a:t>
            </a:r>
            <a:r>
              <a:rPr lang="en-US" sz="17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dell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Screen Size:</a:t>
            </a:r>
            <a:r>
              <a:rPr lang="en-US" sz="1700" dirty="0"/>
              <a:t> 31.5 inches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Panel Type:</a:t>
            </a:r>
            <a:r>
              <a:rPr lang="en-US" sz="1700" dirty="0"/>
              <a:t> IPS Black Technology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Resolution:</a:t>
            </a:r>
            <a:r>
              <a:rPr lang="en-US" sz="1700" dirty="0"/>
              <a:t> 4K UHD (3840 x 2160) at 60 Hz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Aspect Ratio:</a:t>
            </a:r>
            <a:r>
              <a:rPr lang="en-US" sz="1700" dirty="0"/>
              <a:t> 16:9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Brightness:</a:t>
            </a:r>
            <a:r>
              <a:rPr lang="en-US" sz="1700" dirty="0"/>
              <a:t> 400 cd/m²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Contrast Ratio:</a:t>
            </a:r>
            <a:r>
              <a:rPr lang="en-US" sz="1700" dirty="0"/>
              <a:t> 2000:1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Color Support:</a:t>
            </a:r>
            <a:r>
              <a:rPr lang="en-US" sz="1700" dirty="0"/>
              <a:t> 1.07 billion colors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Viewing Angles:</a:t>
            </a:r>
            <a:r>
              <a:rPr lang="en-US" sz="1700" dirty="0"/>
              <a:t> 178° horizontal and vertical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2050" name="Picture 2" descr="3D Dell UltraSharp 32 4K Monitor U3223QE - TurboSquid 2104836">
            <a:extLst>
              <a:ext uri="{FF2B5EF4-FFF2-40B4-BE49-F238E27FC236}">
                <a16:creationId xmlns:a16="http://schemas.microsoft.com/office/drawing/2014/main" id="{C54D463F-00A1-B32E-5A1E-3C8CBBEC0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271587"/>
            <a:ext cx="6903720" cy="431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585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75A96D2-7B62-8104-A7A1-B9C55C401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31" y="546516"/>
            <a:ext cx="4191466" cy="34311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4216F6-039F-7113-EACE-FD7276E75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119" y="4749303"/>
            <a:ext cx="8953762" cy="1544930"/>
          </a:xfrm>
          <a:prstGeom prst="rect">
            <a:avLst/>
          </a:prstGeom>
        </p:spPr>
      </p:pic>
      <p:pic>
        <p:nvPicPr>
          <p:cNvPr id="6146" name="Picture 2" descr="Microsoft Flight Simulator 2020 Multi Screen Setup (3 Screens ...">
            <a:extLst>
              <a:ext uri="{FF2B5EF4-FFF2-40B4-BE49-F238E27FC236}">
                <a16:creationId xmlns:a16="http://schemas.microsoft.com/office/drawing/2014/main" id="{2ABE5A33-2C08-3E28-D0A5-06F7221F9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569" y="528972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97312D-96EB-2C5A-ECAC-5CC678BEA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31" y="3977670"/>
            <a:ext cx="3639058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144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AD5D9E-1BCC-388B-0AB5-46FFF6BAA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1BBC7D9-ADC2-87EC-3D38-FCD681C0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2" y="495563"/>
            <a:ext cx="3455821" cy="7622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AOC CU34G2X/BK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054015-4532-DF19-F9B2-70C02D0D97AF}"/>
              </a:ext>
            </a:extLst>
          </p:cNvPr>
          <p:cNvSpPr txBox="1"/>
          <p:nvPr/>
        </p:nvSpPr>
        <p:spPr>
          <a:xfrm>
            <a:off x="876692" y="1705084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Cijena</a:t>
            </a:r>
            <a:r>
              <a:rPr lang="en-US" sz="1600" dirty="0"/>
              <a:t>: £299.97 (</a:t>
            </a:r>
            <a:r>
              <a:rPr lang="en-US" sz="1600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laptopsdirect</a:t>
            </a:r>
            <a:r>
              <a:rPr lang="en-US" sz="1600" dirty="0"/>
              <a:t>)</a:t>
            </a:r>
            <a:endParaRPr lang="en-US" sz="16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Screen Size:</a:t>
            </a:r>
            <a:r>
              <a:rPr lang="en-US" sz="1600" dirty="0"/>
              <a:t> 34 inches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Panel Type:</a:t>
            </a:r>
            <a:r>
              <a:rPr lang="en-US" sz="1600" dirty="0"/>
              <a:t> VA (Vertical Alignment)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Resolution:</a:t>
            </a:r>
            <a:r>
              <a:rPr lang="en-US" sz="1600" dirty="0"/>
              <a:t> 3440 x 1440 pixels (</a:t>
            </a:r>
            <a:r>
              <a:rPr lang="en-US" sz="1600" dirty="0" err="1"/>
              <a:t>UltraWide</a:t>
            </a:r>
            <a:r>
              <a:rPr lang="en-US" sz="1600" dirty="0"/>
              <a:t> QHD)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Aspect Ratio:</a:t>
            </a:r>
            <a:r>
              <a:rPr lang="en-US" sz="1600" dirty="0"/>
              <a:t> 21:9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Curvature:</a:t>
            </a:r>
            <a:r>
              <a:rPr lang="en-US" sz="1600" dirty="0"/>
              <a:t> 1500R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Brightness:</a:t>
            </a:r>
            <a:r>
              <a:rPr lang="en-US" sz="1600" dirty="0"/>
              <a:t> 300 cd/m²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Contrast Ratio:</a:t>
            </a:r>
            <a:r>
              <a:rPr lang="en-US" sz="1600" dirty="0"/>
              <a:t> 3000:1 (static)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Color Support:</a:t>
            </a:r>
            <a:r>
              <a:rPr lang="en-US" sz="1600" dirty="0"/>
              <a:t> 16.7 million colors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Viewing Angles:</a:t>
            </a:r>
            <a:r>
              <a:rPr lang="en-US" sz="1600" dirty="0"/>
              <a:t> 178° horizontal, 178° vertical</a:t>
            </a:r>
          </a:p>
        </p:txBody>
      </p:sp>
      <p:pic>
        <p:nvPicPr>
          <p:cNvPr id="5124" name="Picture 4" descr="AOC CU34G2X/BK 34&quot; gaming skærm - Hertels">
            <a:extLst>
              <a:ext uri="{FF2B5EF4-FFF2-40B4-BE49-F238E27FC236}">
                <a16:creationId xmlns:a16="http://schemas.microsoft.com/office/drawing/2014/main" id="{A7E2EB01-E377-A192-7607-F99925D1D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037650"/>
            <a:ext cx="6389346" cy="4792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5130" name="Rectangle 512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Rectangle 513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4011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7B1E8EF-7D5E-44D1-2892-324633CF0E4D}"/>
              </a:ext>
            </a:extLst>
          </p:cNvPr>
          <p:cNvSpPr txBox="1"/>
          <p:nvPr/>
        </p:nvSpPr>
        <p:spPr>
          <a:xfrm>
            <a:off x="876693" y="1556426"/>
            <a:ext cx="3656396" cy="44248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Height Adjustment:</a:t>
            </a:r>
            <a:r>
              <a:rPr lang="en-US" sz="1600" dirty="0"/>
              <a:t> 130mm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Tilt Range:</a:t>
            </a:r>
            <a:r>
              <a:rPr lang="en-US" sz="1600" dirty="0"/>
              <a:t> -5° to 23°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Swivel Range:</a:t>
            </a:r>
            <a:r>
              <a:rPr lang="en-US" sz="1600" dirty="0"/>
              <a:t> -32° to 32°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Bezel Design:</a:t>
            </a:r>
            <a:r>
              <a:rPr lang="en-US" sz="1600" dirty="0"/>
              <a:t> 3-sided frameless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Refresh Rate:</a:t>
            </a:r>
            <a:r>
              <a:rPr lang="en-US" sz="1600" dirty="0"/>
              <a:t> 144Hz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Response Time:</a:t>
            </a:r>
            <a:r>
              <a:rPr lang="en-US" sz="1600" dirty="0"/>
              <a:t> 1ms (MPRT)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HDMI Ports:</a:t>
            </a:r>
            <a:r>
              <a:rPr lang="en-US" sz="1600" dirty="0"/>
              <a:t> 2 x HDMI 2.0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DisplayPort Inputs:</a:t>
            </a:r>
            <a:r>
              <a:rPr lang="en-US" sz="1600" dirty="0"/>
              <a:t> 2 x DisplayPort 1.4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USB Hub:</a:t>
            </a:r>
            <a:r>
              <a:rPr lang="en-US" sz="1600" dirty="0"/>
              <a:t> Yes, 4 x USB 3.0 downstream ports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122" name="Picture 2" descr="3 monitor setup MSFS 2020 - Hardware &amp; Peripherals - Microsoft Flight ...">
            <a:extLst>
              <a:ext uri="{FF2B5EF4-FFF2-40B4-BE49-F238E27FC236}">
                <a16:creationId xmlns:a16="http://schemas.microsoft.com/office/drawing/2014/main" id="{AF833619-01AC-9F11-ABE4-98188AEAB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732492"/>
            <a:ext cx="6389346" cy="340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7" name="Group 5126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5135" name="Rectangle 5134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29" name="Rectangle 5128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22294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1A879-63FB-FF5D-6EF1-18699B43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7D6CEC4-5F44-EB18-929B-62BA7822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LG C3 Series 55-Inch Class OLED</a:t>
            </a:r>
          </a:p>
        </p:txBody>
      </p:sp>
      <p:sp>
        <p:nvSpPr>
          <p:cNvPr id="1041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E2DDB586-32C8-4307-8EDC-56E670E4C43C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 err="1"/>
              <a:t>Cijena</a:t>
            </a:r>
            <a:r>
              <a:rPr lang="en-US" sz="1500" dirty="0"/>
              <a:t>: </a:t>
            </a:r>
            <a:r>
              <a:rPr lang="en-US" sz="1500" b="0" i="0" dirty="0">
                <a:effectLst/>
              </a:rPr>
              <a:t>$1,193.00 </a:t>
            </a:r>
            <a:r>
              <a:rPr lang="en-US" sz="1500" dirty="0"/>
              <a:t>(</a:t>
            </a:r>
            <a:r>
              <a:rPr lang="en-US" sz="15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</a:t>
            </a:r>
            <a:r>
              <a:rPr lang="en-US" sz="15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Screen Size:</a:t>
            </a:r>
            <a:r>
              <a:rPr lang="en-US" sz="1500" dirty="0"/>
              <a:t> 55 inches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Panel Type:</a:t>
            </a:r>
            <a:r>
              <a:rPr lang="en-US" sz="1500" dirty="0"/>
              <a:t> OLED evo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Resolution:</a:t>
            </a:r>
            <a:r>
              <a:rPr lang="en-US" sz="1500" dirty="0"/>
              <a:t> 4K UHD (3840 x 2160 pixels)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Brightness Enhancement:</a:t>
            </a:r>
            <a:r>
              <a:rPr lang="en-US" sz="1500" dirty="0"/>
              <a:t> Brightness Booster for improved luminance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Viewing Angles:</a:t>
            </a:r>
            <a:r>
              <a:rPr lang="en-US" sz="1500" dirty="0"/>
              <a:t> 178° horizontal and vertical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Refresh Rate:</a:t>
            </a:r>
            <a:r>
              <a:rPr lang="en-US" sz="1500" dirty="0"/>
              <a:t> Supports up to 120Hz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HDR Support:</a:t>
            </a:r>
            <a:r>
              <a:rPr lang="en-US" sz="1500" dirty="0"/>
              <a:t> Dolby Vision, HDR10, HLG</a:t>
            </a:r>
            <a:endParaRPr lang="hr-HR" sz="15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500" b="1" dirty="0"/>
              <a:t>Response Time</a:t>
            </a:r>
            <a:r>
              <a:rPr lang="hr-HR" sz="1500" dirty="0"/>
              <a:t>:  &gt;1ms</a:t>
            </a:r>
            <a:endParaRPr lang="en-US" sz="15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1026" name="Picture 2" descr="LG C3 OLED TV review: more of the same, for better and for worse | What ...">
            <a:extLst>
              <a:ext uri="{FF2B5EF4-FFF2-40B4-BE49-F238E27FC236}">
                <a16:creationId xmlns:a16="http://schemas.microsoft.com/office/drawing/2014/main" id="{7714BA62-9B0A-491F-C3E6-C25A7EB2B9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7" r="2348"/>
          <a:stretch/>
        </p:blipFill>
        <p:spPr bwMode="auto">
          <a:xfrm>
            <a:off x="4654296" y="1100997"/>
            <a:ext cx="6903720" cy="465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61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79AEBC-FD48-25B9-2F05-8C00B745571D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Bezel:</a:t>
            </a:r>
            <a:r>
              <a:rPr lang="en-US" sz="1700" dirty="0"/>
              <a:t> Slim bezel design for an immersive viewing experience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Stand:</a:t>
            </a:r>
            <a:r>
              <a:rPr lang="en-US" sz="1700" dirty="0"/>
              <a:t> Included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VESA Mount Compatibility:</a:t>
            </a:r>
            <a:r>
              <a:rPr lang="en-US" sz="1700" dirty="0"/>
              <a:t> Yes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Connectivity:</a:t>
            </a:r>
            <a:endParaRPr lang="en-US" sz="17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HDMI Ports:</a:t>
            </a:r>
            <a:r>
              <a:rPr lang="en-US" sz="1700" dirty="0"/>
              <a:t> 4 (supporting HDMI 2.1 features)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USB Ports:</a:t>
            </a:r>
            <a:r>
              <a:rPr lang="en-US" sz="1700" dirty="0"/>
              <a:t> 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Wi-Fi:</a:t>
            </a:r>
            <a:r>
              <a:rPr lang="en-US" sz="1700" dirty="0"/>
              <a:t> Wi-Fi 6 for faster and more reliable wireless connectivity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Bluetooth:</a:t>
            </a:r>
            <a:r>
              <a:rPr lang="en-US" sz="1700" dirty="0"/>
              <a:t> Yes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222798-742F-0933-2FA1-A0C4CE269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2159790"/>
            <a:ext cx="5458968" cy="253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3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AF56C-AC18-1FCB-6A80-F558163F8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26D6931E-9DA3-DF80-645A-BEFD324A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Hisense U8 Series 55U8N</a:t>
            </a:r>
          </a:p>
        </p:txBody>
      </p:sp>
      <p:sp>
        <p:nvSpPr>
          <p:cNvPr id="616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179B8F-88CE-60FA-43DB-BDD714CAA111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Cijena</a:t>
            </a:r>
            <a:r>
              <a:rPr lang="en-US" sz="1700" dirty="0"/>
              <a:t>: </a:t>
            </a:r>
            <a:r>
              <a:rPr lang="en-US" sz="1700" b="0" i="0" dirty="0">
                <a:effectLst/>
              </a:rPr>
              <a:t>$799.99 </a:t>
            </a:r>
            <a:r>
              <a:rPr lang="en-US" sz="1700" dirty="0"/>
              <a:t>(</a:t>
            </a:r>
            <a:r>
              <a:rPr lang="en-US" sz="17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bestbuy</a:t>
            </a:r>
            <a:r>
              <a:rPr lang="en-US" sz="1700" dirty="0"/>
              <a:t>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Screen Size:</a:t>
            </a:r>
            <a:r>
              <a:rPr lang="en-US" sz="1700" dirty="0"/>
              <a:t> 55 inches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Resolution:</a:t>
            </a:r>
            <a:r>
              <a:rPr lang="en-US" sz="1700" dirty="0"/>
              <a:t> 4K UHD (3840 x 2160 pixels)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Backlight Technology:</a:t>
            </a:r>
            <a:r>
              <a:rPr lang="en-US" sz="1700" dirty="0"/>
              <a:t> Mini-LED with Quantum Dot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Peak Brightness:</a:t>
            </a:r>
            <a:r>
              <a:rPr lang="en-US" sz="1700" dirty="0"/>
              <a:t> Up to 1500 nits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Local Dimming Zones:</a:t>
            </a:r>
            <a:r>
              <a:rPr lang="en-US" sz="1700" dirty="0"/>
              <a:t> Full Array Local Dimming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High Dynamic Range (HDR):</a:t>
            </a:r>
            <a:r>
              <a:rPr lang="en-US" sz="1700" dirty="0"/>
              <a:t> Supports Dolby Vision IQ, HDR10, HDR10+, and HLG</a:t>
            </a:r>
          </a:p>
        </p:txBody>
      </p:sp>
      <p:pic>
        <p:nvPicPr>
          <p:cNvPr id="6146" name="Picture 2" descr="Questions and Answers: Hisense 100&quot; Class U8 Series Mini-LED QLED 4K ...">
            <a:extLst>
              <a:ext uri="{FF2B5EF4-FFF2-40B4-BE49-F238E27FC236}">
                <a16:creationId xmlns:a16="http://schemas.microsoft.com/office/drawing/2014/main" id="{EED5F6ED-9F27-8F67-B70E-CACAA5826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6" r="17585"/>
          <a:stretch/>
        </p:blipFill>
        <p:spPr bwMode="auto">
          <a:xfrm>
            <a:off x="4654296" y="794761"/>
            <a:ext cx="6903720" cy="526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592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3D58F1-D77B-4546-C604-A3E3D50094D7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Refresh Rate:</a:t>
            </a:r>
            <a:r>
              <a:rPr lang="en-US" sz="1900" dirty="0"/>
              <a:t> Native 144Hz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Motion Technology:</a:t>
            </a:r>
            <a:r>
              <a:rPr lang="en-US" sz="1900" dirty="0"/>
              <a:t> Smooth Motion with 480 Motion Rate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HDMI Ports:</a:t>
            </a:r>
            <a:r>
              <a:rPr lang="en-US" sz="1900" dirty="0"/>
              <a:t> 4 (with HDMI 2.1 support)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USB Ports:</a:t>
            </a:r>
            <a:r>
              <a:rPr lang="en-US" sz="1900" dirty="0"/>
              <a:t> 2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Wireless:</a:t>
            </a:r>
            <a:r>
              <a:rPr lang="en-US" sz="1900" dirty="0"/>
              <a:t> Wi-Fi 6E support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Bluetooth:</a:t>
            </a:r>
            <a:r>
              <a:rPr lang="en-US" sz="1900" dirty="0"/>
              <a:t> Yes</a:t>
            </a:r>
            <a:endParaRPr lang="hr-HR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900" b="1" dirty="0"/>
              <a:t>Response time: </a:t>
            </a:r>
            <a:r>
              <a:rPr lang="hr-HR" sz="1900" dirty="0"/>
              <a:t>&lt;10ms</a:t>
            </a: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13" name="Picture 12" descr="A person in a cockpit&#10;&#10;Description automatically generated">
            <a:extLst>
              <a:ext uri="{FF2B5EF4-FFF2-40B4-BE49-F238E27FC236}">
                <a16:creationId xmlns:a16="http://schemas.microsoft.com/office/drawing/2014/main" id="{A4CF0974-EC59-F869-8B2D-DDC2DA04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23885"/>
            <a:ext cx="6903720" cy="321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01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7C25C-52FF-0781-9E58-14C7AB7F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F14127-80B5-5FFC-CC3B-C29AFF30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23147"/>
            <a:ext cx="10515600" cy="1133475"/>
          </a:xfrm>
        </p:spPr>
        <p:txBody>
          <a:bodyPr>
            <a:noAutofit/>
          </a:bodyPr>
          <a:lstStyle/>
          <a:p>
            <a:pPr algn="ctr" rtl="0" eaLnBrk="1" latinLnBrk="0" hangingPunct="1">
              <a:lnSpc>
                <a:spcPct val="90000"/>
              </a:lnSpc>
              <a:spcBef>
                <a:spcPts val="1000"/>
              </a:spcBef>
              <a:buClrTx/>
              <a:buSzPts val="2800"/>
            </a:pPr>
            <a:r>
              <a:rPr lang="en-US" sz="4000" b="1" kern="1200" dirty="0" err="1">
                <a:solidFill>
                  <a:srgbClr val="000000"/>
                </a:solidFill>
                <a:effectLst/>
                <a:ea typeface="+mn-ea"/>
                <a:cs typeface="+mn-cs"/>
              </a:rPr>
              <a:t>Sučelja</a:t>
            </a:r>
            <a:r>
              <a:rPr lang="en-US" sz="4000" b="1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/>
            </a:r>
            <a:r>
              <a:rPr lang="en-US" sz="4000" b="1" kern="1200" dirty="0" err="1">
                <a:solidFill>
                  <a:srgbClr val="000000"/>
                </a:solidFill>
                <a:effectLst/>
                <a:ea typeface="+mn-ea"/>
                <a:cs typeface="+mn-cs"/>
              </a:rPr>
              <a:t>pilota</a:t>
            </a:r>
            <a:r>
              <a:rPr lang="en-US" sz="4000" b="1" kern="1200" dirty="0">
                <a:solidFill>
                  <a:srgbClr val="000000"/>
                </a:solidFill>
                <a:effectLst/>
                <a:ea typeface="+mn-ea"/>
                <a:cs typeface="+mn-cs"/>
              </a:rPr>
              <a:t> u </a:t>
            </a:r>
            <a:r>
              <a:rPr lang="en-US" sz="4000" b="1" kern="1200" dirty="0" err="1">
                <a:solidFill>
                  <a:srgbClr val="000000"/>
                </a:solidFill>
                <a:effectLst/>
                <a:ea typeface="+mn-ea"/>
                <a:cs typeface="+mn-cs"/>
              </a:rPr>
              <a:t>cockpitu</a:t>
            </a:r>
            <a:endParaRPr lang="hr-HR" sz="4000" b="1" dirty="0">
              <a:effectLst/>
            </a:endParaRP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2DC0A58-C8DB-47F9-EE6E-DE233B126CB1}"/>
              </a:ext>
            </a:extLst>
          </p:cNvPr>
          <p:cNvSpPr txBox="1"/>
          <p:nvPr/>
        </p:nvSpPr>
        <p:spPr>
          <a:xfrm>
            <a:off x="4604084" y="3856622"/>
            <a:ext cx="2983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2400" dirty="0"/>
              <a:t>Lovro Đuranec</a:t>
            </a:r>
          </a:p>
        </p:txBody>
      </p:sp>
    </p:spTree>
    <p:extLst>
      <p:ext uri="{BB962C8B-B14F-4D97-AF65-F5344CB8AC3E}">
        <p14:creationId xmlns:p14="http://schemas.microsoft.com/office/powerpoint/2010/main" val="1742782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85BEF9-83B4-E219-63D4-F3C4F9CB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D6F2D20-326F-8A4F-CAE6-265B560D2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Logitech G Pro Flight Yoke System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77C1AF6B-A833-7AE0-1BEF-E258E1DDFDEF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/>
              <a:t>Cijena</a:t>
            </a:r>
            <a:r>
              <a:rPr lang="en-US" sz="1700" dirty="0"/>
              <a:t>: $169.99 (</a:t>
            </a:r>
            <a:r>
              <a:rPr lang="en-US" sz="17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Logitech</a:t>
            </a:r>
            <a:r>
              <a:rPr lang="en-US" sz="17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Napredni</a:t>
            </a:r>
            <a:r>
              <a:rPr lang="en-US" sz="1700" dirty="0"/>
              <a:t/>
            </a:r>
            <a:r>
              <a:rPr lang="en-US" sz="1700" dirty="0" err="1"/>
              <a:t>sustav</a:t>
            </a:r>
            <a:r>
              <a:rPr lang="en-US" sz="1700" dirty="0"/>
              <a:t/>
            </a:r>
            <a:r>
              <a:rPr lang="en-US" sz="1700" dirty="0" err="1"/>
              <a:t>upravljača</a:t>
            </a:r>
            <a:r>
              <a:rPr lang="en-US" sz="1700" dirty="0"/>
              <a:t/>
            </a:r>
            <a:r>
              <a:rPr lang="en-US" sz="1700" dirty="0" err="1"/>
              <a:t>i</a:t>
            </a:r>
            <a:r>
              <a:rPr lang="en-US" sz="1700" dirty="0"/>
              <a:t/>
            </a:r>
            <a:r>
              <a:rPr lang="en-US" sz="1700" dirty="0" err="1"/>
              <a:t>ručica</a:t>
            </a:r>
            <a:r>
              <a:rPr lang="en-US" sz="1700" dirty="0"/>
              <a:t/>
            </a:r>
            <a:r>
              <a:rPr lang="en-US" sz="1700" dirty="0" err="1"/>
              <a:t>gasa</a:t>
            </a:r>
            <a:r>
              <a:rPr lang="en-US" sz="1700" dirty="0"/>
              <a:t/>
            </a:r>
            <a:r>
              <a:rPr lang="en-US" sz="1700" dirty="0" err="1"/>
              <a:t>osmišljen</a:t>
            </a:r>
            <a:r>
              <a:rPr lang="en-US" sz="1700" dirty="0"/>
              <a:t> za </a:t>
            </a:r>
            <a:r>
              <a:rPr lang="en-US" sz="1700" dirty="0" err="1"/>
              <a:t>pružanje</a:t>
            </a:r>
            <a:r>
              <a:rPr lang="en-US" sz="1700" dirty="0"/>
              <a:t/>
            </a:r>
            <a:r>
              <a:rPr lang="en-US" sz="1700" dirty="0" err="1"/>
              <a:t>autentičnog</a:t>
            </a:r>
            <a:r>
              <a:rPr lang="en-US" sz="1700" dirty="0"/>
              <a:t/>
            </a:r>
            <a:r>
              <a:rPr lang="en-US" sz="1700" dirty="0" err="1"/>
              <a:t>iskustva</a:t>
            </a:r>
            <a:r>
              <a:rPr lang="en-US" sz="1700" dirty="0"/>
              <a:t/>
            </a:r>
            <a:r>
              <a:rPr lang="en-US" sz="1700" dirty="0" err="1"/>
              <a:t>pilotaže</a:t>
            </a: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Jednostavna</a:t>
            </a:r>
            <a:r>
              <a:rPr lang="en-US" sz="1700" dirty="0"/>
              <a:t/>
            </a:r>
            <a:r>
              <a:rPr lang="en-US" sz="1700" dirty="0" err="1"/>
              <a:t>instalacija</a:t>
            </a:r>
            <a:r>
              <a:rPr lang="en-US" sz="1700" dirty="0"/>
              <a:t/>
            </a:r>
            <a:r>
              <a:rPr lang="en-US" sz="1700" dirty="0" err="1"/>
              <a:t>i</a:t>
            </a:r>
            <a:r>
              <a:rPr lang="en-US" sz="1700" dirty="0"/>
              <a:t> rad s </a:t>
            </a:r>
            <a:r>
              <a:rPr lang="en-US" sz="1700" dirty="0" err="1"/>
              <a:t>popularnim</a:t>
            </a:r>
            <a:r>
              <a:rPr lang="en-US" sz="1700" dirty="0"/>
              <a:t/>
            </a:r>
            <a:r>
              <a:rPr lang="en-US" sz="1700" dirty="0" err="1"/>
              <a:t>simulatorima</a:t>
            </a:r>
            <a:r>
              <a:rPr lang="en-US" sz="1700" dirty="0"/>
              <a:t/>
            </a:r>
            <a:r>
              <a:rPr lang="en-US" sz="1700" dirty="0" err="1"/>
              <a:t>poput</a:t>
            </a:r>
            <a:r>
              <a:rPr lang="en-US" sz="1700" dirty="0"/>
              <a:t> Microsoft Flight </a:t>
            </a:r>
            <a:r>
              <a:rPr lang="en-US" sz="1700" dirty="0" err="1"/>
              <a:t>Simulatora</a:t>
            </a:r>
            <a:r>
              <a:rPr lang="en-US" sz="1700" dirty="0"/>
              <a:t/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Kompatibilan</a:t>
            </a:r>
            <a:r>
              <a:rPr lang="en-US" sz="1700" dirty="0"/>
              <a:t> s </a:t>
            </a:r>
            <a:r>
              <a:rPr lang="en-US" sz="1700" dirty="0" err="1"/>
              <a:t>ostalim</a:t>
            </a:r>
            <a:r>
              <a:rPr lang="en-US" sz="1700" dirty="0"/>
              <a:t> Logitech G Pro Flight </a:t>
            </a:r>
            <a:r>
              <a:rPr lang="en-US" sz="1700" dirty="0" err="1"/>
              <a:t>dodacima</a:t>
            </a:r>
            <a:r>
              <a:rPr lang="en-US" sz="1700" dirty="0"/>
              <a:t/>
            </a:r>
            <a:r>
              <a:rPr lang="en-US" sz="1700" dirty="0" err="1"/>
              <a:t>poput</a:t>
            </a:r>
            <a:r>
              <a:rPr lang="en-US" sz="1700" dirty="0"/>
              <a:t/>
            </a:r>
            <a:r>
              <a:rPr lang="en-US" sz="1700" dirty="0" err="1"/>
              <a:t>pedala</a:t>
            </a:r>
            <a:r>
              <a:rPr lang="en-US" sz="1700" dirty="0"/>
              <a:t/>
            </a:r>
            <a:r>
              <a:rPr lang="en-US" sz="1700" dirty="0" err="1"/>
              <a:t>i</a:t>
            </a:r>
            <a:r>
              <a:rPr lang="en-US" sz="1700" dirty="0"/>
              <a:t/>
            </a:r>
            <a:r>
              <a:rPr lang="en-US" sz="1700" dirty="0" err="1"/>
              <a:t>instrumenata</a:t>
            </a: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1026" name="Picture 2" descr="Logitech G Flight Simulator Yoke System with Throttle Quadrant">
            <a:extLst>
              <a:ext uri="{FF2B5EF4-FFF2-40B4-BE49-F238E27FC236}">
                <a16:creationId xmlns:a16="http://schemas.microsoft.com/office/drawing/2014/main" id="{7E8F63B7-A6FC-D38C-276B-8E2DC8856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" r="2271" b="-2"/>
          <a:stretch/>
        </p:blipFill>
        <p:spPr bwMode="auto">
          <a:xfrm>
            <a:off x="4987672" y="844531"/>
            <a:ext cx="6389346" cy="5178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Rectangle 1039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3051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B2F5278-CB40-63BD-3493-C48ADCC6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024" y="643467"/>
            <a:ext cx="3190551" cy="557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29AB37-A739-FD0D-90FA-0E9F43802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831148"/>
            <a:ext cx="5291667" cy="519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63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469CC-F88F-1BCB-8C98-49B33A8CA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E76B1A-5DC3-7ED3-8B25-191F5DF5B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r-HR" sz="3200" dirty="0"/>
              <a:t>Honeycomb Alpha Flight Controls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67628481-0AB9-E46C-612B-3E62BEEE828A}"/>
              </a:ext>
            </a:extLst>
          </p:cNvPr>
          <p:cNvSpPr txBox="1"/>
          <p:nvPr/>
        </p:nvSpPr>
        <p:spPr>
          <a:xfrm>
            <a:off x="876693" y="2533476"/>
            <a:ext cx="3455821" cy="32729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/>
              <a:t>Cijena</a:t>
            </a:r>
            <a:r>
              <a:rPr lang="en-US" sz="1700" dirty="0"/>
              <a:t>: </a:t>
            </a:r>
            <a:r>
              <a:rPr lang="hr-HR" sz="1600" b="0" i="0" dirty="0">
                <a:effectLst/>
                <a:latin typeface="Montserrat" panose="020F0502020204030204" pitchFamily="2" charset="-18"/>
              </a:rPr>
              <a:t>$308.81 </a:t>
            </a:r>
            <a:r>
              <a:rPr lang="en-US" sz="1700" dirty="0"/>
              <a:t>(</a:t>
            </a:r>
            <a:r>
              <a:rPr lang="hr-HR" sz="170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honeycomb</a:t>
            </a:r>
            <a:r>
              <a:rPr lang="en-US" sz="17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700" dirty="0"/>
              <a:t>Ručica sadrži prigušeni, samocentrirajući mehanizam bez središnjeg zastoja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700" dirty="0"/>
              <a:t>Preklopna ploča s glavnim, alternatorskim, avionskim i svjetlosnim prekidačima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700" dirty="0"/>
              <a:t>Lijeva i desna ručka opremljene su 8-smjernim prekidačem za pregled, vertikalnim i horizontalnim 2-smjernim ljuljnim prekidačima</a:t>
            </a:r>
            <a:endParaRPr lang="en-US" sz="1700" dirty="0"/>
          </a:p>
        </p:txBody>
      </p:sp>
      <p:pic>
        <p:nvPicPr>
          <p:cNvPr id="1028" name="Picture 4" descr="Aerosoft honeycomb alpha flight controls flugsimulator-steuerhorn">
            <a:extLst>
              <a:ext uri="{FF2B5EF4-FFF2-40B4-BE49-F238E27FC236}">
                <a16:creationId xmlns:a16="http://schemas.microsoft.com/office/drawing/2014/main" id="{3C7E82FE-4B06-2D04-4807-36284BA4C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15374"/>
            <a:ext cx="5899177" cy="4027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442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BAF0E2-56DF-8BB0-8D27-63791428AAE1}"/>
              </a:ext>
            </a:extLst>
          </p:cNvPr>
          <p:cNvSpPr txBox="1"/>
          <p:nvPr/>
        </p:nvSpPr>
        <p:spPr>
          <a:xfrm>
            <a:off x="523494" y="2860593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Lijeva ručka:</a:t>
            </a:r>
            <a:endParaRPr lang="hr-H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8-smjerni prekidač (hat switch)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Dvije okomite dvosmjerne ljuljačke sklopke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Jedna tipka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dirty="0"/>
              <a:t>Gumb za razgovor (Push-to-talk)</a:t>
            </a:r>
          </a:p>
          <a:p>
            <a:r>
              <a:rPr lang="hr-HR" b="1" dirty="0"/>
              <a:t>Desna ručka: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Dvije vodoravne dvosmjerne ljuljačke sklopke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Jedna velika tipka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Jedna mala tipka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r-H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3DD414-A6F8-6A83-BB1E-00BE0F413532}"/>
              </a:ext>
            </a:extLst>
          </p:cNvPr>
          <p:cNvSpPr txBox="1"/>
          <p:nvPr/>
        </p:nvSpPr>
        <p:spPr>
          <a:xfrm>
            <a:off x="6956298" y="2413337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Sustavi:</a:t>
            </a:r>
            <a:r>
              <a:rPr lang="hr-HR" dirty="0"/>
              <a:t> Kompatibilno s PC i Mac sustavima.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Spoj putem USB-C na USB-A kabela (uključen).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Duljina:</a:t>
            </a:r>
            <a:r>
              <a:rPr lang="hr-HR" dirty="0"/>
              <a:t> 40 cm (15,75 inča)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Visina:</a:t>
            </a:r>
            <a:r>
              <a:rPr lang="hr-HR" dirty="0"/>
              <a:t> 13 cm (5,19 inča)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b="1" dirty="0"/>
              <a:t>Širina:</a:t>
            </a:r>
            <a:r>
              <a:rPr lang="hr-HR" dirty="0"/>
              <a:t> 27 cm (10,63 inča)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96EAD3-5087-8F65-6666-E8B8155DC17C}"/>
              </a:ext>
            </a:extLst>
          </p:cNvPr>
          <p:cNvSpPr txBox="1"/>
          <p:nvPr/>
        </p:nvSpPr>
        <p:spPr>
          <a:xfrm>
            <a:off x="523494" y="584538"/>
            <a:ext cx="64328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dirty="0"/>
              <a:t>Ploča prekidača: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Uključuje prekidače za glavni sustav, alternator, avioniku i svjetla.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Ima 5-pozicijski prekidač za paljenje za realistične postupke pokretanja motora.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Crveno LED pozadinsko osvjetljenje za bolju vidljivost tijekom noćnih letova.</a:t>
            </a:r>
          </a:p>
        </p:txBody>
      </p:sp>
    </p:spTree>
    <p:extLst>
      <p:ext uri="{BB962C8B-B14F-4D97-AF65-F5344CB8AC3E}">
        <p14:creationId xmlns:p14="http://schemas.microsoft.com/office/powerpoint/2010/main" val="617738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93A17-7C72-3DAA-663B-D8215FFA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6FEEEA50-5B92-F42A-B50E-B62B91BF0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r-HR" sz="3200" dirty="0"/>
              <a:t>Virpil ACE Rudder Pedals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44F6D53-1E41-8BF3-0139-0F103D3D0D4E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 dirty="0" err="1"/>
              <a:t>Cijena</a:t>
            </a:r>
            <a:r>
              <a:rPr lang="en-US" sz="2200" dirty="0"/>
              <a:t>:</a:t>
            </a:r>
            <a:r>
              <a:rPr lang="hr-HR" sz="2400" b="1" dirty="0">
                <a:solidFill>
                  <a:srgbClr val="222529"/>
                </a:solidFill>
                <a:latin typeface="Oswald" panose="020F0502020204030204" pitchFamily="2" charset="-18"/>
              </a:rPr>
              <a:t/>
            </a:r>
            <a:r>
              <a:rPr lang="hr-HR" dirty="0"/>
              <a:t>$419.95</a:t>
            </a:r>
            <a:r>
              <a:rPr lang="hr-HR" sz="2400" b="1" i="0" dirty="0">
                <a:solidFill>
                  <a:srgbClr val="222529"/>
                </a:solidFill>
                <a:effectLst/>
                <a:latin typeface="Oswald" panose="020F0502020204030204" pitchFamily="2" charset="-18"/>
              </a:rPr>
              <a:t/>
            </a:r>
            <a:r>
              <a:rPr lang="en-US" sz="2200" dirty="0"/>
              <a:t>(</a:t>
            </a:r>
            <a:r>
              <a:rPr lang="hr-HR" sz="2200" dirty="0">
                <a:solidFill>
                  <a:schemeClr val="bg1">
                    <a:lumMod val="5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virpil</a:t>
            </a:r>
            <a:r>
              <a:rPr lang="en-US" sz="22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2400" dirty="0"/>
              <a:t>Potpuno prilagodljive postavke za udobnost i performanse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2200" dirty="0"/>
              <a:t>Koristi beskontaktne digitalne senzore blizine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2400" dirty="0"/>
              <a:t>Jednostavne za integraciju u većinu popularnih simulatora</a:t>
            </a:r>
            <a:endParaRPr lang="en-US" sz="22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2200" dirty="0"/>
              <a:t>Metalna konstrukcija</a:t>
            </a:r>
            <a:endParaRPr lang="en-US" sz="2200" dirty="0"/>
          </a:p>
        </p:txBody>
      </p:sp>
      <p:pic>
        <p:nvPicPr>
          <p:cNvPr id="3076" name="Picture 4" descr="ACE Collection Pedals">
            <a:extLst>
              <a:ext uri="{FF2B5EF4-FFF2-40B4-BE49-F238E27FC236}">
                <a16:creationId xmlns:a16="http://schemas.microsoft.com/office/drawing/2014/main" id="{8C11B36A-2368-CF8B-CD0F-A67D27CDE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824" y="640080"/>
            <a:ext cx="5715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9251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A7115-00DA-C786-C01C-68D2160B8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2969664"/>
            <a:ext cx="6106377" cy="1019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2799F9-C385-E09E-05DF-874F12EC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85" y="4061274"/>
            <a:ext cx="6096851" cy="1086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E8DBF-4B3B-A435-1B49-4E5E9EEB3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285" y="5219569"/>
            <a:ext cx="6087325" cy="7240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4C2AE-388A-7194-7133-EE3871467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285" y="706315"/>
            <a:ext cx="6125430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00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89D9B-7402-F050-C3F5-9370DCFD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5F17B78-3C6B-2F02-7B77-A6A7F42BB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4234393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 err="1"/>
              <a:t>VelocityOne</a:t>
            </a:r>
            <a:r>
              <a:rPr lang="en-US" sz="3200" dirty="0"/>
              <a:t>™ Rudder Pedals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8C5FE5F5-A50C-343B-C064-05A52590CC96}"/>
              </a:ext>
            </a:extLst>
          </p:cNvPr>
          <p:cNvSpPr txBox="1"/>
          <p:nvPr/>
        </p:nvSpPr>
        <p:spPr>
          <a:xfrm>
            <a:off x="876693" y="2533476"/>
            <a:ext cx="423439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Cijena</a:t>
            </a:r>
            <a:r>
              <a:rPr lang="en-US" sz="2000" dirty="0"/>
              <a:t>: </a:t>
            </a:r>
            <a:r>
              <a:rPr lang="en-US" sz="2000" b="0" i="0" dirty="0">
                <a:effectLst/>
              </a:rPr>
              <a:t>$299.99</a:t>
            </a:r>
            <a:r>
              <a:rPr lang="en-US" sz="2000" dirty="0"/>
              <a:t> (</a:t>
            </a:r>
            <a:r>
              <a:rPr lang="en-US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Turtle Beach</a:t>
            </a:r>
            <a:r>
              <a:rPr lang="en-US" sz="20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Pedale</a:t>
            </a:r>
            <a:r>
              <a:rPr lang="en-US" sz="2000" dirty="0"/>
              <a:t/>
            </a:r>
            <a:r>
              <a:rPr lang="en-US" sz="2000" dirty="0" err="1"/>
              <a:t>visoke</a:t>
            </a:r>
            <a:r>
              <a:rPr lang="en-US" sz="2000" dirty="0"/>
              <a:t/>
            </a:r>
            <a:r>
              <a:rPr lang="en-US" sz="2000" dirty="0" err="1"/>
              <a:t>osjetljivosti</a:t>
            </a:r>
            <a:r>
              <a:rPr lang="en-US" sz="2000" dirty="0"/>
              <a:t/>
            </a:r>
            <a:r>
              <a:rPr lang="en-US" sz="2000" dirty="0" err="1"/>
              <a:t>omogućuju</a:t>
            </a:r>
            <a:r>
              <a:rPr lang="en-US" sz="2000" dirty="0"/>
              <a:t/>
            </a:r>
            <a:r>
              <a:rPr lang="en-US" sz="2000" dirty="0" err="1"/>
              <a:t>točno</a:t>
            </a:r>
            <a:r>
              <a:rPr lang="en-US" sz="2000" dirty="0"/>
              <a:t/>
            </a:r>
            <a:r>
              <a:rPr lang="en-US" sz="2000" dirty="0" err="1"/>
              <a:t>upravljanje</a:t>
            </a:r>
            <a:r>
              <a:rPr lang="en-US" sz="2000" dirty="0"/>
              <a:t/>
            </a:r>
            <a:r>
              <a:rPr lang="en-US" sz="2000" dirty="0" err="1"/>
              <a:t>kormilom</a:t>
            </a:r>
            <a:r>
              <a:rPr lang="en-US" sz="2000" dirty="0"/>
              <a:t/>
            </a:r>
            <a:r>
              <a:rPr lang="en-US" sz="2000" dirty="0" err="1"/>
              <a:t>smjera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Podesiva</a:t>
            </a:r>
            <a:r>
              <a:rPr lang="en-US" sz="2000" dirty="0"/>
              <a:t/>
            </a:r>
            <a:r>
              <a:rPr lang="en-US" sz="2000" dirty="0" err="1"/>
              <a:t>širina</a:t>
            </a:r>
            <a:r>
              <a:rPr lang="en-US" sz="2000" dirty="0"/>
              <a:t/>
            </a:r>
            <a:r>
              <a:rPr lang="en-US" sz="2000" dirty="0" err="1"/>
              <a:t>i</a:t>
            </a:r>
            <a:r>
              <a:rPr lang="en-US" sz="2000" dirty="0"/>
              <a:t/>
            </a:r>
            <a:r>
              <a:rPr lang="en-US" sz="2000" dirty="0" err="1"/>
              <a:t>nagib</a:t>
            </a:r>
            <a:r>
              <a:rPr lang="en-US" sz="2000" dirty="0"/>
              <a:t/>
            </a:r>
            <a:r>
              <a:rPr lang="en-US" sz="2000" dirty="0" err="1"/>
              <a:t>pedala</a:t>
            </a:r>
            <a:r>
              <a:rPr lang="en-US" sz="2000" dirty="0"/>
              <a:t/>
            </a:r>
            <a:r>
              <a:rPr lang="en-US" sz="2000" dirty="0" err="1"/>
              <a:t>osiguravaju</a:t>
            </a:r>
            <a:r>
              <a:rPr lang="en-US" sz="2000" dirty="0"/>
              <a:t/>
            </a:r>
            <a:r>
              <a:rPr lang="en-US" sz="2000" dirty="0" err="1"/>
              <a:t>udobnost</a:t>
            </a:r>
            <a:r>
              <a:rPr lang="en-US" sz="2000" dirty="0"/>
              <a:t/>
            </a:r>
            <a:r>
              <a:rPr lang="en-US" sz="2000" dirty="0" err="1"/>
              <a:t>i</a:t>
            </a:r>
            <a:r>
              <a:rPr lang="en-US" sz="2000" dirty="0"/>
              <a:t/>
            </a:r>
            <a:r>
              <a:rPr lang="en-US" sz="2000" dirty="0" err="1"/>
              <a:t>prilagodbu</a:t>
            </a:r>
            <a:r>
              <a:rPr lang="en-US" sz="2000" dirty="0"/>
              <a:t/>
            </a:r>
            <a:r>
              <a:rPr lang="en-US" sz="2000" dirty="0" err="1"/>
              <a:t>različitim</a:t>
            </a:r>
            <a:r>
              <a:rPr lang="en-US" sz="2000" dirty="0"/>
              <a:t/>
            </a:r>
            <a:r>
              <a:rPr lang="en-US" sz="2000" dirty="0" err="1"/>
              <a:t>veličinama</a:t>
            </a:r>
            <a:r>
              <a:rPr lang="en-US" sz="2000" dirty="0"/>
              <a:t/>
            </a:r>
            <a:r>
              <a:rPr lang="en-US" sz="2000" dirty="0" err="1"/>
              <a:t>korisnika</a:t>
            </a:r>
            <a:r>
              <a:rPr lang="en-US" sz="2000" dirty="0"/>
              <a:t/>
            </a:r>
            <a:r>
              <a:rPr lang="en-US" sz="2000" dirty="0" err="1"/>
              <a:t>i</a:t>
            </a:r>
            <a:r>
              <a:rPr lang="en-US" sz="2000" dirty="0"/>
              <a:t/>
            </a:r>
            <a:r>
              <a:rPr lang="en-US" sz="2000" dirty="0" err="1"/>
              <a:t>stilovima</a:t>
            </a:r>
            <a:r>
              <a:rPr lang="en-US" sz="2000" dirty="0"/>
              <a:t/>
            </a:r>
            <a:r>
              <a:rPr lang="en-US" sz="2000" dirty="0" err="1"/>
              <a:t>leta</a:t>
            </a:r>
            <a:r>
              <a:rPr lang="en-US" sz="2000" dirty="0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Kompatibilnost</a:t>
            </a:r>
            <a:r>
              <a:rPr lang="en-US" sz="2000" dirty="0"/>
              <a:t> s </a:t>
            </a:r>
            <a:r>
              <a:rPr lang="en-US" sz="2000" dirty="0" err="1"/>
              <a:t>popularnim</a:t>
            </a:r>
            <a:r>
              <a:rPr lang="en-US" sz="2000" dirty="0"/>
              <a:t/>
            </a:r>
            <a:r>
              <a:rPr lang="en-US" sz="2000" dirty="0" err="1"/>
              <a:t>simulatorima</a:t>
            </a:r>
            <a:r>
              <a:rPr lang="en-US" sz="2000" dirty="0"/>
              <a:t/>
            </a:r>
            <a:r>
              <a:rPr lang="en-US" sz="2000" dirty="0" err="1"/>
              <a:t>kao</a:t>
            </a:r>
            <a:r>
              <a:rPr lang="en-US" sz="2000" dirty="0"/>
              <a:t/>
            </a:r>
            <a:r>
              <a:rPr lang="en-US" sz="2000" dirty="0" err="1"/>
              <a:t>što</a:t>
            </a:r>
            <a:r>
              <a:rPr lang="en-US" sz="2000" dirty="0"/>
              <a:t/>
            </a:r>
            <a:r>
              <a:rPr lang="en-US" sz="2000" dirty="0" err="1"/>
              <a:t>su</a:t>
            </a:r>
            <a:r>
              <a:rPr lang="en-US" sz="2000" dirty="0"/>
              <a:t> Microsoft Flight Simulator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2050" name="Picture 2" descr="VelocityOne Flight + VelocityOne Rudder Pedals + VelocityOne Stand Bundle">
            <a:extLst>
              <a:ext uri="{FF2B5EF4-FFF2-40B4-BE49-F238E27FC236}">
                <a16:creationId xmlns:a16="http://schemas.microsoft.com/office/drawing/2014/main" id="{6F2ED34D-0C50-4C72-B925-8679DF14A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15" r="28343" b="-1"/>
          <a:stretch/>
        </p:blipFill>
        <p:spPr bwMode="auto">
          <a:xfrm>
            <a:off x="5854890" y="877414"/>
            <a:ext cx="5453545" cy="498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665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1E708A-E7B8-50A3-A5E3-E0342B197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860" y="1037891"/>
            <a:ext cx="11498280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372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6140-7321-7189-A647-F5812889A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DCBE023-0441-B392-0B61-264DCD7C2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Logitech Pro Flight Switch Panel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336925B8-09CB-EBA7-1040-949F7EBEE22A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Cijena</a:t>
            </a:r>
            <a:r>
              <a:rPr lang="en-US" sz="1700"/>
              <a:t>: $99.99 (</a:t>
            </a:r>
            <a:r>
              <a:rPr lang="en-US" sz="17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HaB direct</a:t>
            </a:r>
            <a:r>
              <a:rPr lang="en-US" sz="170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Omogućuje upravljanje ključnim funkcijama letjelice, uključujući glavne prekidače i sustav paljenja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Jasno označeni prekidači i lako dostupni kontroleri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Radi s vodećim simulatorima poput Microsoft Flight Simulatora i X-Plane-a, uz mogućnost integracije u prilagođene kokpit konfiguracije.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4098" name="Picture 2" descr="Logitech G Pro Flight Switch Panel- Buy Online in United Arab Emirates ...">
            <a:extLst>
              <a:ext uri="{FF2B5EF4-FFF2-40B4-BE49-F238E27FC236}">
                <a16:creationId xmlns:a16="http://schemas.microsoft.com/office/drawing/2014/main" id="{091A12E7-12EC-4279-9B18-B5B8C6052C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7672" y="1836318"/>
            <a:ext cx="6389346" cy="3194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96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A7CD679-37F3-72FC-7164-8C9A34489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962" y="218973"/>
            <a:ext cx="3686084" cy="3506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50FE5F-C633-767D-3544-EBB42A168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4083484"/>
            <a:ext cx="5426764" cy="1855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FCAB12-889A-A8C1-22E5-BCE6E84C1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34" y="650270"/>
            <a:ext cx="5426764" cy="541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01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F267D-F903-B915-50FE-0E6F3147D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12667D2-312D-E9CA-6136-4BF7318F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fontAlgn="base"/>
            <a:r>
              <a:rPr lang="hr-HR" sz="3200" b="1" i="0" dirty="0">
                <a:solidFill>
                  <a:srgbClr val="06203C"/>
                </a:solidFill>
                <a:effectLst/>
              </a:rPr>
              <a:t>BRAVO Throttle Quadrant</a:t>
            </a:r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EE290B2-7B11-0E95-B62C-25D46BA80103}"/>
              </a:ext>
            </a:extLst>
          </p:cNvPr>
          <p:cNvSpPr txBox="1"/>
          <p:nvPr/>
        </p:nvSpPr>
        <p:spPr>
          <a:xfrm>
            <a:off x="876693" y="2533476"/>
            <a:ext cx="3455821" cy="21939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 err="1"/>
              <a:t>Cijena</a:t>
            </a:r>
            <a:r>
              <a:rPr lang="en-US" sz="1700" dirty="0"/>
              <a:t>: </a:t>
            </a:r>
            <a:r>
              <a:rPr lang="hr-HR" sz="1600" b="0" i="0" dirty="0">
                <a:effectLst/>
                <a:latin typeface="Montserrat" panose="00000500000000000000" pitchFamily="2" charset="-18"/>
              </a:rPr>
              <a:t>$308.81 </a:t>
            </a:r>
            <a:r>
              <a:rPr lang="en-US" sz="1700" dirty="0"/>
              <a:t>(</a:t>
            </a:r>
            <a:r>
              <a:rPr lang="hr-HR" sz="1700" dirty="0">
                <a:solidFill>
                  <a:schemeClr val="bg1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honeycomb</a:t>
            </a:r>
            <a:r>
              <a:rPr lang="en-US" sz="1700" dirty="0"/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600" dirty="0"/>
              <a:t>Konfiguracije gasa za zrakoplove s jednim motorom, pa sve do četveromotornih zrakoplova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r-HR" sz="1600" dirty="0"/>
              <a:t>Panel za signalizaciju s 14 indikatorskih svjetala prikazuje najvažnije statusne i upozoravajuće poruke sustava na zrakoplovu.</a:t>
            </a:r>
            <a:endParaRPr lang="en-US" sz="17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pic>
        <p:nvPicPr>
          <p:cNvPr id="2050" name="Picture 2" descr="BRAVO Throttle Quadrant">
            <a:extLst>
              <a:ext uri="{FF2B5EF4-FFF2-40B4-BE49-F238E27FC236}">
                <a16:creationId xmlns:a16="http://schemas.microsoft.com/office/drawing/2014/main" id="{8BC77127-E939-554C-5E3D-184F362E5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243584"/>
            <a:ext cx="4572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8627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935C1-5ED3-1BC2-0CD1-9A635A00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AA04D7-5FE9-D1FD-7774-3B075A58E5AA}"/>
              </a:ext>
            </a:extLst>
          </p:cNvPr>
          <p:cNvSpPr txBox="1"/>
          <p:nvPr/>
        </p:nvSpPr>
        <p:spPr>
          <a:xfrm>
            <a:off x="432054" y="423964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dirty="0"/>
              <a:t>Kompatibilnost sustava: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PC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Mac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Xbox (samo u kombinaciji s Alpha XPC i Xbox Hubom)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67A3ED-CB38-6ACB-67C6-39C84C5E9EFA}"/>
              </a:ext>
            </a:extLst>
          </p:cNvPr>
          <p:cNvSpPr txBox="1"/>
          <p:nvPr/>
        </p:nvSpPr>
        <p:spPr>
          <a:xfrm>
            <a:off x="432054" y="2323898"/>
            <a:ext cx="60944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dirty="0"/>
              <a:t>Povezivanje: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USB-C na USB-A kabel (uključen)</a:t>
            </a:r>
          </a:p>
          <a:p>
            <a:r>
              <a:rPr lang="hr-HR" b="1" dirty="0"/>
              <a:t>Kompatibilnost softvera: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Microsoft Flight Simulator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X-Plane 11 i 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Prepar3D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06657-5A4D-57FD-539E-FF3F3A9B29B9}"/>
              </a:ext>
            </a:extLst>
          </p:cNvPr>
          <p:cNvSpPr txBox="1"/>
          <p:nvPr/>
        </p:nvSpPr>
        <p:spPr>
          <a:xfrm>
            <a:off x="6526530" y="423964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r-HR" b="1" dirty="0"/>
              <a:t>Dimenzije (duljina x visina x širina):</a:t>
            </a:r>
            <a:endParaRPr lang="hr-HR" dirty="0"/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40 x 13 x 28 cm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dirty="0"/>
              <a:t>15,75 x 5,19 x 11,02 inča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DC4FA6-6059-E502-1A64-C850A287B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025" y="2368248"/>
            <a:ext cx="6496957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26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1076</Words>
  <Application>Microsoft Office PowerPoint</Application>
  <PresentationFormat>Widescreen</PresentationFormat>
  <Paragraphs>171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Montserrat</vt:lpstr>
      <vt:lpstr>Oswald</vt:lpstr>
      <vt:lpstr>Tema sustava Office</vt:lpstr>
      <vt:lpstr>Veliki / zakrivljeni ekrani za moderni simulator leta</vt:lpstr>
      <vt:lpstr>Odyssey Neo G9 49</vt:lpstr>
      <vt:lpstr>PowerPoint Presentation</vt:lpstr>
      <vt:lpstr>LG UltraGear 45GR95QE</vt:lpstr>
      <vt:lpstr>PowerPoint Presentation</vt:lpstr>
      <vt:lpstr>Dell UltraSharp 32 U3223QE</vt:lpstr>
      <vt:lpstr>PowerPoint Presentation</vt:lpstr>
      <vt:lpstr>AOC CU34G2X/BK</vt:lpstr>
      <vt:lpstr>PowerPoint Presentation</vt:lpstr>
      <vt:lpstr>LG C3 Series 55-Inch Class OLED</vt:lpstr>
      <vt:lpstr>PowerPoint Presentation</vt:lpstr>
      <vt:lpstr>Hisense U8 Series 55U8N</vt:lpstr>
      <vt:lpstr>PowerPoint Presentation</vt:lpstr>
      <vt:lpstr>Sučelja pilota u cockpitu</vt:lpstr>
      <vt:lpstr>Logitech G Pro Flight Yoke System</vt:lpstr>
      <vt:lpstr>PowerPoint Presentation</vt:lpstr>
      <vt:lpstr>Honeycomb Alpha Flight Controls</vt:lpstr>
      <vt:lpstr>PowerPoint Presentation</vt:lpstr>
      <vt:lpstr>Virpil ACE Rudder Pedals</vt:lpstr>
      <vt:lpstr>PowerPoint Presentation</vt:lpstr>
      <vt:lpstr>VelocityOne™ Rudder Pedals</vt:lpstr>
      <vt:lpstr>PowerPoint Presentation</vt:lpstr>
      <vt:lpstr>Logitech Pro Flight Switch Panel</vt:lpstr>
      <vt:lpstr>PowerPoint Presentation</vt:lpstr>
      <vt:lpstr>BRAVO Throttle Quadrant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Redizajn cockpita postojećeg istraživačkog simulatora leta aviona uz poznavanje mogućnosti relevantnih programskih alata X-Plane i Air Manager</dc:title>
  <dc:creator>Maja Blažok</dc:creator>
  <cp:lastModifiedBy>Lovro Đuranec</cp:lastModifiedBy>
  <cp:revision>56</cp:revision>
  <dcterms:created xsi:type="dcterms:W3CDTF">2025-01-20T21:35:26Z</dcterms:created>
  <dcterms:modified xsi:type="dcterms:W3CDTF">2025-01-25T17:26:29Z</dcterms:modified>
</cp:coreProperties>
</file>